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₹ Cr by month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Billed</c:v>
                </c:pt>
              </c:strCache>
            </c:strRef>
          </c:tx>
          <c:spPr>
            <a:solidFill>
              <a:srgbClr val="1F2A4D"/>
            </a:solidFill>
          </c:spPr>
          <c:cat>
            <c:strRef>
              <c:f>Sheet1!$A$2:$A$13</c:f>
              <c:strCache>
                <c:ptCount val="12"/>
                <c:pt idx="0">
                  <c:v>Apr-25</c:v>
                </c:pt>
                <c:pt idx="1">
                  <c:v>May-25</c:v>
                </c:pt>
                <c:pt idx="2">
                  <c:v>Jun-25</c:v>
                </c:pt>
                <c:pt idx="3">
                  <c:v>Jul-25</c:v>
                </c:pt>
                <c:pt idx="4">
                  <c:v>Aug-25</c:v>
                </c:pt>
                <c:pt idx="5">
                  <c:v>Sep-25</c:v>
                </c:pt>
                <c:pt idx="6">
                  <c:v>Oct-25</c:v>
                </c:pt>
                <c:pt idx="7">
                  <c:v>Nov-25</c:v>
                </c:pt>
                <c:pt idx="8">
                  <c:v>Dec-25</c:v>
                </c:pt>
                <c:pt idx="9">
                  <c:v>Jan-26</c:v>
                </c:pt>
                <c:pt idx="10">
                  <c:v>Feb-26</c:v>
                </c:pt>
                <c:pt idx="11">
                  <c:v>Mar-26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44.3</c:v>
                </c:pt>
                <c:pt idx="1">
                  <c:v>49.7</c:v>
                </c:pt>
                <c:pt idx="2">
                  <c:v>59.1</c:v>
                </c:pt>
                <c:pt idx="3">
                  <c:v>48.0</c:v>
                </c:pt>
                <c:pt idx="4">
                  <c:v>46.2</c:v>
                </c:pt>
                <c:pt idx="5">
                  <c:v>59.9</c:v>
                </c:pt>
                <c:pt idx="6">
                  <c:v>47.6</c:v>
                </c:pt>
                <c:pt idx="7">
                  <c:v>44.1</c:v>
                </c:pt>
                <c:pt idx="8">
                  <c:v>64.7</c:v>
                </c:pt>
                <c:pt idx="9">
                  <c:v>46.0</c:v>
                </c:pt>
                <c:pt idx="10">
                  <c:v>40.6</c:v>
                </c:pt>
                <c:pt idx="11">
                  <c:v>73.0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Collected</c:v>
                </c:pt>
              </c:strCache>
            </c:strRef>
          </c:tx>
          <c:spPr>
            <a:solidFill>
              <a:srgbClr val="6BA4C9"/>
            </a:solidFill>
          </c:spPr>
          <c:cat>
            <c:strRef>
              <c:f>Sheet1!$A$2:$A$13</c:f>
              <c:strCache>
                <c:ptCount val="12"/>
                <c:pt idx="0">
                  <c:v>Apr-25</c:v>
                </c:pt>
                <c:pt idx="1">
                  <c:v>May-25</c:v>
                </c:pt>
                <c:pt idx="2">
                  <c:v>Jun-25</c:v>
                </c:pt>
                <c:pt idx="3">
                  <c:v>Jul-25</c:v>
                </c:pt>
                <c:pt idx="4">
                  <c:v>Aug-25</c:v>
                </c:pt>
                <c:pt idx="5">
                  <c:v>Sep-25</c:v>
                </c:pt>
                <c:pt idx="6">
                  <c:v>Oct-25</c:v>
                </c:pt>
                <c:pt idx="7">
                  <c:v>Nov-25</c:v>
                </c:pt>
                <c:pt idx="8">
                  <c:v>Dec-25</c:v>
                </c:pt>
                <c:pt idx="9">
                  <c:v>Jan-26</c:v>
                </c:pt>
                <c:pt idx="10">
                  <c:v>Feb-26</c:v>
                </c:pt>
                <c:pt idx="11">
                  <c:v>Mar-26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1.7</c:v>
                </c:pt>
                <c:pt idx="1">
                  <c:v>14.1</c:v>
                </c:pt>
                <c:pt idx="2">
                  <c:v>27.6</c:v>
                </c:pt>
                <c:pt idx="3">
                  <c:v>39.5</c:v>
                </c:pt>
                <c:pt idx="4">
                  <c:v>41.9</c:v>
                </c:pt>
                <c:pt idx="5">
                  <c:v>40.8</c:v>
                </c:pt>
                <c:pt idx="6">
                  <c:v>49.2</c:v>
                </c:pt>
                <c:pt idx="7">
                  <c:v>45.2</c:v>
                </c:pt>
                <c:pt idx="8">
                  <c:v>48.8</c:v>
                </c:pt>
                <c:pt idx="9">
                  <c:v>51.2</c:v>
                </c:pt>
                <c:pt idx="10">
                  <c:v>45.8</c:v>
                </c:pt>
                <c:pt idx="11">
                  <c:v>47.2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Outstanding by days past due (₹ Cr)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Outstanding</c:v>
                </c:pt>
              </c:strCache>
            </c:strRef>
          </c:tx>
          <c:spPr>
            <a:solidFill>
              <a:srgbClr val="1F2A4D"/>
            </a:solidFill>
          </c:spPr>
          <c:dPt>
            <c:idx val="4"/>
            <c:spPr>
              <a:solidFill>
                <a:srgbClr val="C02F2F"/>
              </a:solidFill>
            </c:spPr>
          </c:dPt>
          <c:cat>
            <c:strRef>
              <c:f>Sheet1!$A$2:$A$6</c:f>
              <c:strCache>
                <c:ptCount val="5"/>
                <c:pt idx="0">
                  <c:v>Not due</c:v>
                </c:pt>
                <c:pt idx="1">
                  <c:v>1-30</c:v>
                </c:pt>
                <c:pt idx="2">
                  <c:v>31-60</c:v>
                </c:pt>
                <c:pt idx="3">
                  <c:v>61-90</c:v>
                </c:pt>
                <c:pt idx="4">
                  <c:v>90+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83.9</c:v>
                </c:pt>
                <c:pt idx="1">
                  <c:v>23.9</c:v>
                </c:pt>
                <c:pt idx="2">
                  <c:v>15.1</c:v>
                </c:pt>
                <c:pt idx="3">
                  <c:v>14.4</c:v>
                </c:pt>
                <c:pt idx="4">
                  <c:v>33.0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90+ days overdue by client (₹ Lakh)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90+ overdue (₹ Lakh)</c:v>
                </c:pt>
              </c:strCache>
            </c:strRef>
          </c:tx>
          <c:spPr>
            <a:solidFill>
              <a:srgbClr val="1F2A4D"/>
            </a:solidFill>
          </c:spPr>
          <c:dPt>
            <c:idx val="0"/>
            <c:spPr>
              <a:solidFill>
                <a:srgbClr val="C02F2F"/>
              </a:solidFill>
            </c:spPr>
          </c:dPt>
          <c:dPt>
            <c:idx val="1"/>
            <c:spPr>
              <a:solidFill>
                <a:srgbClr val="C02F2F"/>
              </a:solidFill>
            </c:spPr>
          </c:dPt>
          <c:dPt>
            <c:idx val="2"/>
            <c:spPr>
              <a:solidFill>
                <a:srgbClr val="C02F2F"/>
              </a:solidFill>
            </c:spPr>
          </c:dPt>
          <c:cat>
            <c:strRef>
              <c:f>Sheet1!$A$2:$A$11</c:f>
              <c:strCache>
                <c:ptCount val="10"/>
                <c:pt idx="0">
                  <c:v>Nanda Constructions Pvt Ltd</c:v>
                </c:pt>
                <c:pt idx="1">
                  <c:v>Shetty Constructions Pvt Ltd</c:v>
                </c:pt>
                <c:pt idx="2">
                  <c:v>Chopra Capital Ltd</c:v>
                </c:pt>
                <c:pt idx="3">
                  <c:v>Chawla Housing Finance Ltd</c:v>
                </c:pt>
                <c:pt idx="4">
                  <c:v>Grover Diagnostics LLP</c:v>
                </c:pt>
                <c:pt idx="5">
                  <c:v>Bansal Steels Ltd</c:v>
                </c:pt>
                <c:pt idx="6">
                  <c:v>Bhatia Insurance Brokers Ltd</c:v>
                </c:pt>
                <c:pt idx="7">
                  <c:v>Mistry Mart LLP</c:v>
                </c:pt>
                <c:pt idx="8">
                  <c:v>Tandon Logistics Ltd</c:v>
                </c:pt>
                <c:pt idx="9">
                  <c:v>Khanna Logistics LLP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796.8</c:v>
                </c:pt>
                <c:pt idx="1">
                  <c:v>388.3</c:v>
                </c:pt>
                <c:pt idx="2">
                  <c:v>380.6</c:v>
                </c:pt>
                <c:pt idx="3">
                  <c:v>262.2</c:v>
                </c:pt>
                <c:pt idx="4">
                  <c:v>211.1</c:v>
                </c:pt>
                <c:pt idx="5">
                  <c:v>128.0</c:v>
                </c:pt>
                <c:pt idx="6">
                  <c:v>108.5</c:v>
                </c:pt>
                <c:pt idx="7">
                  <c:v>101.1</c:v>
                </c:pt>
                <c:pt idx="8">
                  <c:v>91.9</c:v>
                </c:pt>
                <c:pt idx="9">
                  <c:v>87.0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Receivables review, FY 2025-26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C9D3E8"/>
                </a:solidFill>
                <a:latin typeface="Calibri"/>
              </a:rPr>
              <a:t>Where the cash is stuck, and what to do about it in Q1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69080"/>
            <a:ext cx="1097280" cy="54864"/>
          </a:xfrm>
          <a:prstGeom prst="rect">
            <a:avLst/>
          </a:prstGeom>
          <a:solidFill>
            <a:srgbClr val="C0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9D3E8"/>
                </a:solidFill>
                <a:latin typeface="Calibri"/>
              </a:rPr>
              <a:t>Leadership discussion  |  April 2026</a:t>
            </a:r>
          </a:p>
          <a:p>
            <a:pPr algn="l"/>
            <a:r>
              <a:rPr sz="1400" b="0">
                <a:solidFill>
                  <a:srgbClr val="C9D3E8"/>
                </a:solidFill>
                <a:latin typeface="Calibri"/>
              </a:rPr>
              <a:t>Prepared by Siddhant Gulati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F2A4D"/>
                </a:solidFill>
                <a:latin typeface="Calibri"/>
              </a:rPr>
              <a:t>Collections lagged billing most of the year; a March spike took AR to ₹170.3 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Calibri"/>
              </a:rPr>
              <a:t>Billed ₹623.4 Cr and collected ₹453.1 Cr in FY 2025-26; DSO moved from 65 days in June to 96 days in March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63640"/>
            <a:ext cx="11201400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30936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Source: Finance Operations MIS, FY 2025-26 (as of 31-Mar-2026). Amounts gross of GST.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0936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554480"/>
          <a:ext cx="75895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0" y="17373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F2A4D"/>
                </a:solidFill>
              </a:rPr>
              <a:t>Slow start.</a:t>
            </a:r>
            <a:r>
              <a:rPr sz="1300">
                <a:solidFill>
                  <a:srgbClr val="262626"/>
                </a:solidFill>
              </a:rPr>
              <a:t>  Collections first exceeded billing in October, once the first quarter's invoices fell due.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2A4D"/>
                </a:solidFill>
              </a:rPr>
              <a:t>March spike.</a:t>
            </a:r>
            <a:r>
              <a:rPr sz="1300">
                <a:solidFill>
                  <a:srgbClr val="262626"/>
                </a:solidFill>
              </a:rPr>
              <a:t>  Billing of ₹73.0 Cr in March (the year's high) added ₹25.7 Cr to AR in a single month.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2A4D"/>
                </a:solidFill>
              </a:rPr>
              <a:t>Efficiency.</a:t>
            </a:r>
            <a:r>
              <a:rPr sz="1300">
                <a:solidFill>
                  <a:srgbClr val="262626"/>
                </a:solidFill>
              </a:rPr>
              <a:t>  72.7% of what was billed in the year was collected by 31 March.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2A4D"/>
                </a:solidFill>
              </a:rPr>
              <a:t>Watch.</a:t>
            </a:r>
            <a:r>
              <a:rPr sz="1300">
                <a:solidFill>
                  <a:srgbClr val="262626"/>
                </a:solidFill>
              </a:rPr>
              <a:t>  DSO of 96 days is well above the 30-60 day terms in the client master.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F2A4D"/>
                </a:solidFill>
                <a:latin typeface="Calibri"/>
              </a:rPr>
              <a:t>₹33.0 Cr (19.4% of AR) is more than 90 days past due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Calibri"/>
              </a:rPr>
              <a:t>Energy &amp; Infra clients make up ₹15.2 Cr of the 90+ bucket on their own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63640"/>
            <a:ext cx="11201400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30936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Source: Finance Operations MIS, FY 2025-26 (as of 31-Mar-2026). Amounts gross of GST.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0936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554480"/>
          <a:ext cx="54864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691640"/>
          <a:ext cx="5303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1005840"/>
                <a:gridCol w="1097280"/>
              </a:tblGrid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Industry</a:t>
                      </a:r>
                    </a:p>
                  </a:txBody>
                  <a:tcPr>
                    <a:solidFill>
                      <a:srgbClr val="1F2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Total AR</a:t>
                      </a:r>
                    </a:p>
                  </a:txBody>
                  <a:tcPr>
                    <a:solidFill>
                      <a:srgbClr val="1F2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90+</a:t>
                      </a:r>
                    </a:p>
                  </a:txBody>
                  <a:tcPr>
                    <a:solidFill>
                      <a:srgbClr val="1F2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90+ share</a:t>
                      </a:r>
                    </a:p>
                  </a:txBody>
                  <a:tcPr>
                    <a:solidFill>
                      <a:srgbClr val="1F2A4D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62626"/>
                          </a:solidFill>
                        </a:rPr>
                        <a:t>Energy &amp; Infra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64.3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C02F2F"/>
                          </a:solidFill>
                        </a:rPr>
                        <a:t>15.2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62626"/>
                          </a:solidFill>
                        </a:rPr>
                        <a:t>BFSI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34.4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8.0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23%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62626"/>
                          </a:solidFill>
                        </a:rPr>
                        <a:t>Healthcare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22.1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62626"/>
                          </a:solidFill>
                        </a:rPr>
                        <a:t>Retail &amp; FMCG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21.4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2.8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13%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62626"/>
                          </a:solidFill>
                        </a:rPr>
                        <a:t>Manufacturing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17.1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62626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11.0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1.1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62626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4800600"/>
            <a:ext cx="53035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Calibri"/>
              </a:rPr>
              <a:t>Energy &amp; Infra has the largest book and the highest share of it past 90 days. Project-based clients tend to hold payments until milestones are signed 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F2A4D"/>
                </a:solidFill>
                <a:latin typeface="Calibri"/>
              </a:rPr>
              <a:t>Ten clients hold 77% of the 90+ overdue, but only 33% of billing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Calibri"/>
              </a:rPr>
              <a:t>A targeted push on a short list will move the number more than a blanket reminder campaign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63640"/>
            <a:ext cx="11201400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30936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Source: Finance Operations MIS, FY 2025-26 (as of 31-Mar-2026). Amounts gross of GST.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0936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554480"/>
          <a:ext cx="67665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3736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F2A4D"/>
                </a:solidFill>
              </a:rPr>
              <a:t>Top 3 = ₹15.7 Cr.</a:t>
            </a:r>
            <a:r>
              <a:rPr sz="1300">
                <a:solidFill>
                  <a:srgbClr val="262626"/>
                </a:solidFill>
              </a:rPr>
              <a:t>  Nanda Constructions Pvt Ltd alone is ₹8.0 Cr, more than the next two combined.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2A4D"/>
                </a:solidFill>
              </a:rPr>
              <a:t>Credit risk lines up.</a:t>
            </a:r>
            <a:r>
              <a:rPr sz="1300">
                <a:solidFill>
                  <a:srgbClr val="262626"/>
                </a:solidFill>
              </a:rPr>
              <a:t>  All ten are rated B or BB in the client master, so the overdue is not random.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2A4D"/>
                </a:solidFill>
              </a:rPr>
              <a:t>Terms are not the issue.</a:t>
            </a:r>
            <a:r>
              <a:rPr sz="1300">
                <a:solidFill>
                  <a:srgbClr val="262626"/>
                </a:solidFill>
              </a:rPr>
              <a:t>  Most of these clients are on 30 or 45 day terms and are paying well past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F2A4D"/>
                </a:solidFill>
                <a:latin typeface="Calibri"/>
              </a:rPr>
              <a:t>Recommended actions for Q1 FY 2026-27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Calibri"/>
              </a:rPr>
              <a:t>Aim: bring 90+ overdue down by a third and DSO under 80 days by 30 June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63640"/>
            <a:ext cx="11201400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30936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Calibri"/>
              </a:rPr>
              <a:t>Targets are proposals for discussion. Owners to be confirmed with Finance and Business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0936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00200"/>
          <a:ext cx="11201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5029200"/>
                <a:gridCol w="1965960"/>
                <a:gridCol w="1005840"/>
              </a:tblGrid>
              <a:tr h="701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1F2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>
                    <a:solidFill>
                      <a:srgbClr val="1F2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it involves</a:t>
                      </a:r>
                    </a:p>
                  </a:txBody>
                  <a:tcPr anchor="ctr">
                    <a:solidFill>
                      <a:srgbClr val="1F2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>
                    <a:solidFill>
                      <a:srgbClr val="1F2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 anchor="ctr">
                    <a:solidFill>
                      <a:srgbClr val="1F2A4D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4D"/>
                          </a:solidFill>
                        </a:rPr>
                        <a:t>Escalate the top 3 accounts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Partner-led calls with Nanda, Shetty and Chopra; agree dated payment plans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Engagement partners + 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Week 1-2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4D"/>
                          </a:solidFill>
                        </a:rPr>
                        <a:t>Weekly 90+ review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One page from this MIS every Monday: movement by client and by owner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Finance Ops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From Week 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4D"/>
                          </a:solidFill>
                        </a:rPr>
                        <a:t>Tighten terms for B/BB clients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Milestone billing with advance or retainer on new work for low-rated clients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Risk + Business heads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New SOWs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4D"/>
                          </a:solidFill>
                        </a:rPr>
                        <a:t>Fix data issues at source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Two duplicate receipts and one unmatched payment found; add a check at receipt posting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Finance IT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Month 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4D"/>
                          </a:solidFill>
                        </a:rPr>
                        <a:t>Track 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Add a DSO and 90+ target line to the dashboard and report progress monthly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Finance Ops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Monthly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Receivables review FY 2025-26</dc:title>
  <dc:subject/>
  <dc:creator>Siddhant Gulati</dc:creator>
  <cp:keywords/>
  <cp:lastModifiedBy>Siddhant Gulati</cp:lastModifiedBy>
  <cp:revision>1</cp:revision>
  <dcterms:created xsi:type="dcterms:W3CDTF">2026-10-19T10:44:55Z</dcterms:created>
  <dcterms:modified xsi:type="dcterms:W3CDTF">2026-10-19T10:44:55Z</dcterms:modified>
  <cp:category/>
</cp:coreProperties>
</file>